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(M)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HR</c:v>
                  </c:pt>
                  <c:pt idx="1">
                    <c:v>Sales</c:v>
                  </c:pt>
                  <c:pt idx="2">
                    <c:v>Finance</c:v>
                  </c:pt>
                  <c:pt idx="3">
                    <c:v>Operations</c:v>
                  </c:pt>
                  <c:pt idx="4">
                    <c:v>Marketing</c:v>
                  </c:pt>
                  <c:pt idx="5">
                    <c:v>IT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137.43</c:v>
                </c:pt>
                <c:pt idx="1">
                  <c:v>134.83</c:v>
                </c:pt>
                <c:pt idx="2">
                  <c:v>132.9</c:v>
                </c:pt>
                <c:pt idx="3">
                  <c:v>132.64</c:v>
                </c:pt>
                <c:pt idx="4">
                  <c:v>132.16</c:v>
                </c:pt>
                <c:pt idx="5">
                  <c:v>125.66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HR</c:v>
                  </c:pt>
                  <c:pt idx="1">
                    <c:v>Sales</c:v>
                  </c:pt>
                  <c:pt idx="2">
                    <c:v>Finance</c:v>
                  </c:pt>
                  <c:pt idx="3">
                    <c:v>Operations</c:v>
                  </c:pt>
                  <c:pt idx="4">
                    <c:v>Marketing</c:v>
                  </c:pt>
                  <c:pt idx="5">
                    <c:v>IT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155.55</c:v>
                </c:pt>
                <c:pt idx="1">
                  <c:v>151.44</c:v>
                </c:pt>
                <c:pt idx="2">
                  <c:v>144.02</c:v>
                </c:pt>
                <c:pt idx="3">
                  <c:v>147.87</c:v>
                </c:pt>
                <c:pt idx="4">
                  <c:v>152.14</c:v>
                </c:pt>
                <c:pt idx="5">
                  <c:v>139.38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(M)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Travel</c:v>
                  </c:pt>
                  <c:pt idx="1">
                    <c:v>Utilities</c:v>
                  </c:pt>
                  <c:pt idx="2">
                    <c:v>Training</c:v>
                  </c:pt>
                  <c:pt idx="3">
                    <c:v>Marketing</c:v>
                  </c:pt>
                  <c:pt idx="4">
                    <c:v>Infra.</c:v>
                  </c:pt>
                  <c:pt idx="5">
                    <c:v>Salaries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140.1</c:v>
                </c:pt>
                <c:pt idx="1">
                  <c:v>137.96</c:v>
                </c:pt>
                <c:pt idx="2">
                  <c:v>132.39</c:v>
                </c:pt>
                <c:pt idx="3">
                  <c:v>130.22</c:v>
                </c:pt>
                <c:pt idx="4">
                  <c:v>127.89</c:v>
                </c:pt>
                <c:pt idx="5">
                  <c:v>127.07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Travel</c:v>
                  </c:pt>
                  <c:pt idx="1">
                    <c:v>Utilities</c:v>
                  </c:pt>
                  <c:pt idx="2">
                    <c:v>Training</c:v>
                  </c:pt>
                  <c:pt idx="3">
                    <c:v>Marketing</c:v>
                  </c:pt>
                  <c:pt idx="4">
                    <c:v>Infra.</c:v>
                  </c:pt>
                  <c:pt idx="5">
                    <c:v>Salaries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155.12</c:v>
                </c:pt>
                <c:pt idx="1">
                  <c:v>155.34</c:v>
                </c:pt>
                <c:pt idx="2">
                  <c:v>144.92</c:v>
                </c:pt>
                <c:pt idx="3">
                  <c:v>146.57</c:v>
                </c:pt>
                <c:pt idx="4">
                  <c:v>140.9</c:v>
                </c:pt>
                <c:pt idx="5">
                  <c:v>147.56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(M)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  <c:pt idx="4">
                    <c:v>North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182.39</c:v>
                </c:pt>
                <c:pt idx="1">
                  <c:v>180.95</c:v>
                </c:pt>
                <c:pt idx="2">
                  <c:v>177.02</c:v>
                </c:pt>
                <c:pt idx="3">
                  <c:v>175.51</c:v>
                </c:pt>
                <c:pt idx="4">
                  <c:v>174.54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(M)</c:v>
                </c:pt>
              </c:strCache>
            </c:strRef>
          </c:tx>
          <c:spPr>
            <a:solidFill>
              <a:srgbClr val="CADCFC"/>
            </a:solidFill>
            <a:ln w="381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  <c:pt idx="4">
                    <c:v>North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162.88</c:v>
                </c:pt>
                <c:pt idx="1">
                  <c:v>159.69</c:v>
                </c:pt>
                <c:pt idx="2">
                  <c:v>158.09</c:v>
                </c:pt>
                <c:pt idx="3">
                  <c:v>157</c:v>
                </c:pt>
                <c:pt idx="4">
                  <c:v>157.96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Actual (M)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C4B99"/>
              </a:solidFill>
              <a:effectLst/>
            </c:spPr>
          </c:dPt>
          <c:dPt>
            <c:idx val="2"/>
            <c:bubble3D val="0"/>
            <c:spPr>
              <a:solidFill>
                <a:srgbClr val="E76F51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Card</c:v>
                </c:pt>
                <c:pt idx="2">
                  <c:v>Bank Transfer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228.6</c:v>
                </c:pt>
                <c:pt idx="1">
                  <c:v>222.6</c:v>
                </c:pt>
                <c:pt idx="2">
                  <c:v>221.3</c:v>
                </c:pt>
                <c:pt idx="3">
                  <c:v>217.9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(M)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Marketing</c:v>
                  </c:pt>
                  <c:pt idx="1">
                    <c:v>HR</c:v>
                  </c:pt>
                  <c:pt idx="2">
                    <c:v>Sales</c:v>
                  </c:pt>
                  <c:pt idx="3">
                    <c:v>Operations</c:v>
                  </c:pt>
                  <c:pt idx="4">
                    <c:v>IT</c:v>
                  </c:pt>
                  <c:pt idx="5">
                    <c:v>Finance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19.98</c:v>
                </c:pt>
                <c:pt idx="1">
                  <c:v>18.12</c:v>
                </c:pt>
                <c:pt idx="2">
                  <c:v>16.62</c:v>
                </c:pt>
                <c:pt idx="3">
                  <c:v>15.23</c:v>
                </c:pt>
                <c:pt idx="4">
                  <c:v>13.73</c:v>
                </c:pt>
                <c:pt idx="5">
                  <c:v>11.12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Variance,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91540" y="8915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money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914" y="114391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Analysis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Kaggle data to an interactive Power BI dashboard — sourcing, cleaning in Google Colab, modeling in Power Query, and visual storytelling.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623560"/>
            <a:ext cx="292608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  •   Google Colab (Python)   •   Power Query   •   Power BI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Kumar   •   Sonu Pal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WAS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80894" cy="4297680"/>
          </a:xfrm>
          <a:prstGeom prst="roundRect">
            <a:avLst>
              <a:gd name="adj" fmla="val 3189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04747" y="2400300"/>
            <a:ext cx="868680" cy="86868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7" name="Image 0" descr="/home/claude/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917" y="261747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the Data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4023360"/>
            <a:ext cx="206883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the Budget vs Actual expense dataset from Kaggle (10,010 transactions, 8 fields).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38678" y="35661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85566" y="1691640"/>
            <a:ext cx="2580894" cy="4297680"/>
          </a:xfrm>
          <a:prstGeom prst="roundRect">
            <a:avLst>
              <a:gd name="adj" fmla="val 3189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86734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241673" y="2400300"/>
            <a:ext cx="868680" cy="86868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4" name="Image 1" descr="/home/claude/ppt/icons/b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843" y="2617470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4166" y="347472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in Colab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641598" y="4023360"/>
            <a:ext cx="206883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Python (pandas) in Google Colab to inspect, de-duplicate, and handle missing values.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75604" y="35661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22492" y="1691640"/>
            <a:ext cx="2580894" cy="4297680"/>
          </a:xfrm>
          <a:prstGeom prst="roundRect">
            <a:avLst>
              <a:gd name="adj" fmla="val 3189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2366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7078599" y="2400300"/>
            <a:ext cx="868680" cy="86868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1" name="Image 2" descr="/home/claude/ppt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769" y="2617470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51092" y="347472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 Power Query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478524" y="4023360"/>
            <a:ext cx="206883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cleaned file into Power BI and assigned correct data types via Power Query.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812530" y="35661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59418" y="1691640"/>
            <a:ext cx="2580894" cy="4297680"/>
          </a:xfrm>
          <a:prstGeom prst="roundRect">
            <a:avLst>
              <a:gd name="adj" fmla="val 3189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260586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9915525" y="2400300"/>
            <a:ext cx="868680" cy="86868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8" name="Image 3" descr="/home/claude/ppt/icons/chart-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695" y="2617470"/>
            <a:ext cx="434340" cy="4343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88018" y="347472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Dashboard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315450" y="4023360"/>
            <a:ext cx="206883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KPI cards, charts, and slicers to turn the data into decision-ready visuals.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DATA SOURCING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— Budget vs Actual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transaction-level financial dataset (Excel file) covering three years of departmental spending, uploaded to Google Colab for cleaning.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36976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1089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 (2021 – 2023)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6112" y="3621024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49300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Sales, Finance, Operations, Marketing,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" y="4005072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877056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Travel, Utilities, Training, Marketing, Infrastructure, Salaries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" y="4389120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261104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East, North, South, West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" y="4773168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645152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Amount / Actual Amount 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vs. spent value per transaction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" y="5157216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5029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UPI, Bank Transfer, Cash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" y="5541264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541324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 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record identifier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691640"/>
            <a:ext cx="4754880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77456" y="1833372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3" name="Image 0" descr="/home/claude/ppt/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519" y="1969435"/>
            <a:ext cx="294803" cy="29480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26680" y="174650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10,010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7726680" y="21488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rows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858000" y="2688336"/>
            <a:ext cx="4754880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77456" y="2830068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8" name="Image 1" descr="/home/claude/ppt/icons/layer-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19" y="2966131"/>
            <a:ext cx="294803" cy="29480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726680" y="27432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30" name="Text 26"/>
          <p:cNvSpPr/>
          <p:nvPr/>
        </p:nvSpPr>
        <p:spPr>
          <a:xfrm>
            <a:off x="7726680" y="314553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858000" y="3685032"/>
            <a:ext cx="4754880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7077456" y="3826764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33" name="Image 2" descr="/home/claude/ppt/icons/chart-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519" y="3962827"/>
            <a:ext cx="294803" cy="29480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726680" y="3739896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35" name="Text 30"/>
          <p:cNvSpPr/>
          <p:nvPr/>
        </p:nvSpPr>
        <p:spPr>
          <a:xfrm>
            <a:off x="7726680" y="41422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 (2021–2023)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858000" y="4681728"/>
            <a:ext cx="4754880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7077456" y="4823460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38" name="Image 3" descr="/home/claude/ppt/icons/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519" y="4959523"/>
            <a:ext cx="294803" cy="29480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726680" y="473659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6 · 5 · 4</a:t>
            </a:r>
            <a:endParaRPr lang="en-US" sz="1900" dirty="0"/>
          </a:p>
        </p:txBody>
      </p:sp>
      <p:sp>
        <p:nvSpPr>
          <p:cNvPr id="40" name="Text 34"/>
          <p:cNvSpPr/>
          <p:nvPr/>
        </p:nvSpPr>
        <p:spPr>
          <a:xfrm>
            <a:off x="7726680" y="513892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· categories · regions · payment types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DATA WRANGLING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Data in Google Colab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6733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Inspect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975104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Kaggle Excel file into pandas; reviewed .head(), .info() and .describe() to understand structure and types.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5146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for Nulls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81635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found a small number of missing values: 1 Department, 1 Category, 3 Region, 3 Transaction ID.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33558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6576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df.drop_duplicates() to ensure every transaction row is unique.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419709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Missing Rows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49884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df.dropna() to remove the incomplete rows, leaving a fully populated dataset.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114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503834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Cleaned File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5340096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the result as cleaned_budget_vs_actual_data.xlsx and downloaded it for Power BI.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1691640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09560" y="18745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BEFORE → AFTER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09560" y="21945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10,010 </a:t>
            </a:r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10,002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7909560" y="278892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incomplete rows removed (nulls + duplicates) — a data-quality loss of just 0.08%.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35240" y="3794760"/>
            <a:ext cx="39776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54696" y="3922776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30" name="Image 0" descr="/home/claude/ppt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0759" y="4058839"/>
            <a:ext cx="294803" cy="29480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503920" y="39502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8503920" y="4251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notebook (Cleaning.ipynb)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909560" y="49377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cleaned_budget_vs_actual_data.xlsx — ready to load into Power BI.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DATA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 in Power BI (Power Query)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1812" y="226314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6" name="Image 0" descr="/home/claude/ppt/icons/file-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122" y="24574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5000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cleaned_budget_vs_actual_data.xlsx into Power BI Desktop via Get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42532" y="226314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1" name="Image 1" descr="/home/claude/ppt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842" y="24574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47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Data Types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35000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Date to Date/Time, Budget Amount &amp; Actual Amount to whole numbers, and text fields to Text in Power Query Editor.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1812" y="441198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6" name="Image 2" descr="/home/claude/ppt/icons/balance-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22" y="46062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96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Measures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49884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DAX measures for Total Variance (Actual − Budget) and Variance % ((Actual − Budget) / Budget).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8404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42532" y="441198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1" name="Image 3" descr="/home/claude/pp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842" y="460629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096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to Model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449884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query and loaded the shaped table into the report's data model, ready for visuals.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DESIGN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Design: KPIs, Charts &amp; Slicers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777240"/>
          </a:xfrm>
          <a:prstGeom prst="roundRect">
            <a:avLst>
              <a:gd name="adj" fmla="val 10588"/>
            </a:avLst>
          </a:prstGeom>
          <a:solidFill>
            <a:srgbClr val="EEF2FC"/>
          </a:solidFill>
          <a:ln w="12700">
            <a:solidFill>
              <a:srgbClr val="DD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223799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90138" y="1645920"/>
            <a:ext cx="2567178" cy="777240"/>
          </a:xfrm>
          <a:prstGeom prst="roundRect">
            <a:avLst>
              <a:gd name="adj" fmla="val 10588"/>
            </a:avLst>
          </a:prstGeom>
          <a:solidFill>
            <a:srgbClr val="EEF2FC"/>
          </a:solidFill>
          <a:ln w="12700">
            <a:solidFill>
              <a:srgbClr val="DD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4730" y="1773936"/>
            <a:ext cx="223799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Actual Expense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2567178" cy="777240"/>
          </a:xfrm>
          <a:prstGeom prst="roundRect">
            <a:avLst>
              <a:gd name="adj" fmla="val 10588"/>
            </a:avLst>
          </a:prstGeom>
          <a:solidFill>
            <a:srgbClr val="EEF2FC"/>
          </a:solidFill>
          <a:ln w="12700">
            <a:solidFill>
              <a:srgbClr val="DD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6228" y="1773936"/>
            <a:ext cx="223799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Variance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73134" y="1645920"/>
            <a:ext cx="2567178" cy="777240"/>
          </a:xfrm>
          <a:prstGeom prst="roundRect">
            <a:avLst>
              <a:gd name="adj" fmla="val 10588"/>
            </a:avLst>
          </a:prstGeom>
          <a:solidFill>
            <a:srgbClr val="EEF2FC"/>
          </a:solidFill>
          <a:ln w="12700">
            <a:solidFill>
              <a:srgbClr val="DD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7726" y="1773936"/>
            <a:ext cx="223799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2376" y="2715768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4" name="Image 0" descr="/home/claude/ppt/icons/chart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439" y="2851831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2706624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Department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3383280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— surfaces which departments exceed budget.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37304" y="2560320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11040" y="2715768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9" name="Image 1" descr="/home/claude/ppt/icons/char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103" y="2851831"/>
            <a:ext cx="294803" cy="29480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60264" y="2706624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Category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65904" y="3383280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— flags spending categories with the biggest gaps.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125968" y="2560320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99704" y="2715768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4" name="Image 2" descr="/home/claude/ppt/icons/arrow-trend-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767" y="2851831"/>
            <a:ext cx="294803" cy="29480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48928" y="2706624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Trend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354568" y="3383280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tracks planned vs. spent value by region over time.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8640" y="4242816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22376" y="4398264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9" name="Image 3" descr="/home/claude/ppt/icons/chart-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39" y="4534327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4389120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Region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77240" y="5065776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— highlights regions with higher overspend.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337304" y="4242816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11040" y="4398264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34" name="Image 4" descr="/home/claude/ppt/icons/chart-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103" y="4534327"/>
            <a:ext cx="294803" cy="29480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60264" y="4389120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Expense by Payment Method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4565904" y="5065776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shows the spend split across payment channels.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125968" y="4242816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299704" y="4398264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39" name="Image 5" descr="/home/claude/ppt/icons/bulls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767" y="4534327"/>
            <a:ext cx="294803" cy="294803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48928" y="4389120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Overspending by Department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8354568" y="5065776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sorted descending by variance — ranks the biggest risks.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548640" y="5943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added for Region and Department so every visual can be filtered interactively.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KPI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9324" y="2308860"/>
            <a:ext cx="868680" cy="868680"/>
          </a:xfrm>
          <a:prstGeom prst="ellipse">
            <a:avLst/>
          </a:prstGeom>
          <a:solidFill>
            <a:srgbClr val="2C3878"/>
          </a:solidFill>
          <a:ln/>
        </p:spPr>
      </p:sp>
      <p:pic>
        <p:nvPicPr>
          <p:cNvPr id="6" name="Image 0" descr="/home/claude/ppt/icons/money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494" y="252603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796M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47288" y="196596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56532" y="2308860"/>
            <a:ext cx="868680" cy="868680"/>
          </a:xfrm>
          <a:prstGeom prst="ellipse">
            <a:avLst/>
          </a:prstGeom>
          <a:solidFill>
            <a:srgbClr val="2C3878"/>
          </a:solidFill>
          <a:ln/>
        </p:spPr>
      </p:sp>
      <p:pic>
        <p:nvPicPr>
          <p:cNvPr id="11" name="Image 1" descr="/home/claude/ppt/icons/chart-bar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702" y="252603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333756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890M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584448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Actual Expense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54496" y="196596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63740" y="2308860"/>
            <a:ext cx="868680" cy="868680"/>
          </a:xfrm>
          <a:prstGeom prst="ellipse">
            <a:avLst/>
          </a:prstGeom>
          <a:solidFill>
            <a:srgbClr val="2C3878"/>
          </a:solidFill>
          <a:ln/>
        </p:spPr>
      </p:sp>
      <p:pic>
        <p:nvPicPr>
          <p:cNvPr id="16" name="Image 2" descr="/home/claude/ppt/icons/chart-bar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910" y="252603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33756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95M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391656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Variance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61704" y="196596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70948" y="2308860"/>
            <a:ext cx="868680" cy="868680"/>
          </a:xfrm>
          <a:prstGeom prst="ellipse">
            <a:avLst/>
          </a:prstGeom>
          <a:solidFill>
            <a:srgbClr val="2C3878"/>
          </a:solidFill>
          <a:ln/>
        </p:spPr>
      </p:sp>
      <p:pic>
        <p:nvPicPr>
          <p:cNvPr id="21" name="Image 3" descr="/home/claude/ppt/icons/bullsey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118" y="252603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3144" y="333756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+11.9%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198864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%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spending outpaced budget across every department, region and category — total overspend reached 95M, about 12% above plan.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CHART 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Overspend Coming From?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Department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148840"/>
          <a:ext cx="52120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60020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4652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Category</a:t>
            </a:r>
            <a:endParaRPr lang="en-US" sz="13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09360" y="2148840"/>
          <a:ext cx="52120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CHART 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Spread &amp; Payment Channels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Region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2148840"/>
          <a:ext cx="59893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1600200"/>
            <a:ext cx="457200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Expense by Payment Method</a:t>
            </a:r>
            <a:endParaRPr lang="en-US" sz="13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7315200" y="2148840"/>
          <a:ext cx="4023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CHART 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Overspending by Department — Ranked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04088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87452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645920"/>
            <a:ext cx="3749040" cy="4526280"/>
          </a:xfrm>
          <a:prstGeom prst="roundRect">
            <a:avLst>
              <a:gd name="adj" fmla="val 21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15300" y="1805940"/>
            <a:ext cx="685800" cy="685800"/>
          </a:xfrm>
          <a:prstGeom prst="ellipse">
            <a:avLst/>
          </a:prstGeom>
          <a:solidFill>
            <a:srgbClr val="2C3878"/>
          </a:solidFill>
          <a:ln/>
        </p:spPr>
      </p:sp>
      <p:pic>
        <p:nvPicPr>
          <p:cNvPr id="8" name="Image 0" descr="/home/claude/ppt/icons/exclam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0" y="1977390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3816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138160" y="3017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carry the largest absolute overspend, each roughly 18–20M above budget.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13816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is the most disciplined department, with the smallest variance of the six.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138160" y="5029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by variance (descending) turns a routine bar chart into a prioritized action list for finance teams.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FINAL OUTPUT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0817352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5" name="Image 0" descr="/home/claude/ppt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535" y="1691640"/>
            <a:ext cx="8043882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746504"/>
            <a:ext cx="658368" cy="65836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5" name="Image 0" descr="/home/claude/ppt/icons/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1109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Overspend is broad-based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2039112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department, region, category and payment method spent above budget — this is a systemic pattern, not one outlier.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44184" y="1746504"/>
            <a:ext cx="658368" cy="65836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9" name="Image 1" descr="/home/claude/ppt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91109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691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&amp; HR lead the gap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0" y="2039112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account for roughly 38M of the 95M total variance and should be reviewed first.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3504" y="3255264"/>
            <a:ext cx="658368" cy="65836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3" name="Image 2" descr="/home/claude/ppt/icons/chart-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41985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mix is balanced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417320" y="3547872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Card, Bank Transfer and Cash are each within ~1pt of a 25% share — no channel-specific risk.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44184" y="3255264"/>
            <a:ext cx="658368" cy="65836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7" name="Image 3" descr="/home/claude/ppt/icons/arrow-trend-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341985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&amp; Utilities run hottest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58000" y="3547872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show the largest budget-to-actual gaps among all six categories.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89204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 w="12700">
            <a:solidFill>
              <a:srgbClr val="DDE4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22960" y="5010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22960" y="52852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budget-setting for Marketing and HR using 2021–2023 actuals as a baseline, not last year's budget alone.</a:t>
            </a:r>
            <a:endParaRPr lang="en-US" sz="1080" dirty="0"/>
          </a:p>
        </p:txBody>
      </p:sp>
      <p:sp>
        <p:nvSpPr>
          <p:cNvPr id="23" name="Text 17"/>
          <p:cNvSpPr/>
          <p:nvPr/>
        </p:nvSpPr>
        <p:spPr>
          <a:xfrm>
            <a:off x="822960" y="560527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monthly variance alerts in Power BI so overspend is caught mid-quarter, not at year-end.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822960" y="592531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Travel and Utilities contracts/vendors for renegotiation opportunities.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01168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508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17602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371600" y="43434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→ Google Colab cleaning → Power Query modeling → Power BI dashboard.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2026-08-28T21:07:10Z</dcterms:created>
  <dcterms:modified xsi:type="dcterms:W3CDTF">2026-08-28T21:07:10Z</dcterms:modified>
</cp:coreProperties>
</file>